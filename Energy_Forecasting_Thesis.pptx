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9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image" Target="../media/image5.png"/><Relationship Id="rId6" Type="http://schemas.openxmlformats.org/officeDocument/2006/relationships/image" Target="../media/image14.svg"/><Relationship Id="rId5" Type="http://schemas.openxmlformats.org/officeDocument/2006/relationships/image" Target="../media/image7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image" Target="../media/image5.png"/><Relationship Id="rId6" Type="http://schemas.openxmlformats.org/officeDocument/2006/relationships/image" Target="../media/image14.svg"/><Relationship Id="rId5" Type="http://schemas.openxmlformats.org/officeDocument/2006/relationships/image" Target="../media/image7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D0D43D-EAD3-44F1-A564-529E6C9534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D34D414-8209-45AA-9C41-1F789CBAE08A}">
      <dgm:prSet/>
      <dgm:spPr/>
      <dgm:t>
        <a:bodyPr/>
        <a:lstStyle/>
        <a:p>
          <a:r>
            <a:rPr lang="en-US"/>
            <a:t>Household electricity consumption exhibits high volatility and nonlinear patterns that traditional methods struggle to capture</a:t>
          </a:r>
        </a:p>
      </dgm:t>
    </dgm:pt>
    <dgm:pt modelId="{68D3B0A6-3FFA-4BFC-8CA5-D3AC84A127D1}" type="parTrans" cxnId="{7388A3DC-4961-491C-804B-194E58676A14}">
      <dgm:prSet/>
      <dgm:spPr/>
      <dgm:t>
        <a:bodyPr/>
        <a:lstStyle/>
        <a:p>
          <a:endParaRPr lang="en-US"/>
        </a:p>
      </dgm:t>
    </dgm:pt>
    <dgm:pt modelId="{01F1498F-69FE-4B90-8876-1F7B801919F3}" type="sibTrans" cxnId="{7388A3DC-4961-491C-804B-194E58676A14}">
      <dgm:prSet/>
      <dgm:spPr/>
      <dgm:t>
        <a:bodyPr/>
        <a:lstStyle/>
        <a:p>
          <a:endParaRPr lang="en-US"/>
        </a:p>
      </dgm:t>
    </dgm:pt>
    <dgm:pt modelId="{E55B9835-F9BD-4B37-A275-D4A525228F95}">
      <dgm:prSet/>
      <dgm:spPr/>
      <dgm:t>
        <a:bodyPr/>
        <a:lstStyle/>
        <a:p>
          <a:r>
            <a:rPr lang="en-US"/>
            <a:t>Traditional statistical methods (ARIMA) fail to model complex temporal dependencies and sudden consumption changes</a:t>
          </a:r>
        </a:p>
      </dgm:t>
    </dgm:pt>
    <dgm:pt modelId="{8EE8BABB-5108-4B80-A23C-E0D1F9CAAA66}" type="parTrans" cxnId="{3F4058BC-0B7D-48F0-A751-F0206751FCB8}">
      <dgm:prSet/>
      <dgm:spPr/>
      <dgm:t>
        <a:bodyPr/>
        <a:lstStyle/>
        <a:p>
          <a:endParaRPr lang="en-US"/>
        </a:p>
      </dgm:t>
    </dgm:pt>
    <dgm:pt modelId="{7641143B-AEBD-46A1-8D9F-194EACECC50D}" type="sibTrans" cxnId="{3F4058BC-0B7D-48F0-A751-F0206751FCB8}">
      <dgm:prSet/>
      <dgm:spPr/>
      <dgm:t>
        <a:bodyPr/>
        <a:lstStyle/>
        <a:p>
          <a:endParaRPr lang="en-US"/>
        </a:p>
      </dgm:t>
    </dgm:pt>
    <dgm:pt modelId="{45B51EC6-22E7-4BE9-B9BB-D77C7F20BE09}">
      <dgm:prSet/>
      <dgm:spPr/>
      <dgm:t>
        <a:bodyPr/>
        <a:lstStyle/>
        <a:p>
          <a:r>
            <a:rPr lang="en-US"/>
            <a:t>Machine learning and deep learning show promise but their comparative performance across different temporal horizons remains unclear</a:t>
          </a:r>
        </a:p>
      </dgm:t>
    </dgm:pt>
    <dgm:pt modelId="{BA660C4E-C77A-451F-A857-ABC3C8E6557F}" type="parTrans" cxnId="{24E84EC7-815A-4F03-A4BC-B6629DCA7A46}">
      <dgm:prSet/>
      <dgm:spPr/>
      <dgm:t>
        <a:bodyPr/>
        <a:lstStyle/>
        <a:p>
          <a:endParaRPr lang="en-US"/>
        </a:p>
      </dgm:t>
    </dgm:pt>
    <dgm:pt modelId="{F342FE3E-28CA-4F67-B2DD-84FC2476A7E2}" type="sibTrans" cxnId="{24E84EC7-815A-4F03-A4BC-B6629DCA7A46}">
      <dgm:prSet/>
      <dgm:spPr/>
      <dgm:t>
        <a:bodyPr/>
        <a:lstStyle/>
        <a:p>
          <a:endParaRPr lang="en-US"/>
        </a:p>
      </dgm:t>
    </dgm:pt>
    <dgm:pt modelId="{015F4DF1-0B08-4EE7-B7F3-41526B1708C8}">
      <dgm:prSet/>
      <dgm:spPr/>
      <dgm:t>
        <a:bodyPr/>
        <a:lstStyle/>
        <a:p>
          <a:r>
            <a:rPr lang="en-US"/>
            <a:t>Challenge: Identifying optimal forecasting methods for hourly, daily, and weekly energy predictions using real smart meter data</a:t>
          </a:r>
        </a:p>
      </dgm:t>
    </dgm:pt>
    <dgm:pt modelId="{09F84E45-AD9B-4F2D-B243-39EE4AF1A326}" type="parTrans" cxnId="{BB2FF1D2-1C17-4B17-9618-C9B65C37B918}">
      <dgm:prSet/>
      <dgm:spPr/>
      <dgm:t>
        <a:bodyPr/>
        <a:lstStyle/>
        <a:p>
          <a:endParaRPr lang="en-US"/>
        </a:p>
      </dgm:t>
    </dgm:pt>
    <dgm:pt modelId="{1F98DE36-AE7F-4ABF-8612-1D5847EE6B0D}" type="sibTrans" cxnId="{BB2FF1D2-1C17-4B17-9618-C9B65C37B918}">
      <dgm:prSet/>
      <dgm:spPr/>
      <dgm:t>
        <a:bodyPr/>
        <a:lstStyle/>
        <a:p>
          <a:endParaRPr lang="en-US"/>
        </a:p>
      </dgm:t>
    </dgm:pt>
    <dgm:pt modelId="{7A6F544F-A882-4DE9-8C78-AB23E6208884}" type="pres">
      <dgm:prSet presAssocID="{47D0D43D-EAD3-44F1-A564-529E6C9534AF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7FBE040-B2D3-4B1F-94F7-6DA50810FC1F}" type="pres">
      <dgm:prSet presAssocID="{BD34D414-8209-45AA-9C41-1F789CBAE08A}" presName="compNode" presStyleCnt="0"/>
      <dgm:spPr/>
    </dgm:pt>
    <dgm:pt modelId="{9B31E953-18E1-4E4D-9CBB-D5A9FC460259}" type="pres">
      <dgm:prSet presAssocID="{BD34D414-8209-45AA-9C41-1F789CBAE08A}" presName="bgRect" presStyleLbl="bgShp" presStyleIdx="0" presStyleCnt="4"/>
      <dgm:spPr/>
    </dgm:pt>
    <dgm:pt modelId="{F2230F80-2837-4A82-BE55-75E7AB32CC26}" type="pres">
      <dgm:prSet presAssocID="{BD34D414-8209-45AA-9C41-1F789CBAE08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2D15F72A-D1B0-472F-AAE6-EABD443D9B4C}" type="pres">
      <dgm:prSet presAssocID="{BD34D414-8209-45AA-9C41-1F789CBAE08A}" presName="spaceRect" presStyleCnt="0"/>
      <dgm:spPr/>
    </dgm:pt>
    <dgm:pt modelId="{CAC0E49B-A0BF-4C2C-9AD9-C9C71087AF46}" type="pres">
      <dgm:prSet presAssocID="{BD34D414-8209-45AA-9C41-1F789CBAE08A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003A578C-E321-45A3-830A-71CCAD7B5952}" type="pres">
      <dgm:prSet presAssocID="{01F1498F-69FE-4B90-8876-1F7B801919F3}" presName="sibTrans" presStyleCnt="0"/>
      <dgm:spPr/>
    </dgm:pt>
    <dgm:pt modelId="{53C438C3-049E-476C-93BF-E55444379FED}" type="pres">
      <dgm:prSet presAssocID="{E55B9835-F9BD-4B37-A275-D4A525228F95}" presName="compNode" presStyleCnt="0"/>
      <dgm:spPr/>
    </dgm:pt>
    <dgm:pt modelId="{3D9F65A9-3292-443B-A787-3A1EB0222F9C}" type="pres">
      <dgm:prSet presAssocID="{E55B9835-F9BD-4B37-A275-D4A525228F95}" presName="bgRect" presStyleLbl="bgShp" presStyleIdx="1" presStyleCnt="4"/>
      <dgm:spPr/>
    </dgm:pt>
    <dgm:pt modelId="{DBC0AFD6-7184-4A6E-975D-A0D2E36CCA12}" type="pres">
      <dgm:prSet presAssocID="{E55B9835-F9BD-4B37-A275-D4A525228F9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0E735D9-7ED4-477F-AD18-A1A4529ED0F8}" type="pres">
      <dgm:prSet presAssocID="{E55B9835-F9BD-4B37-A275-D4A525228F95}" presName="spaceRect" presStyleCnt="0"/>
      <dgm:spPr/>
    </dgm:pt>
    <dgm:pt modelId="{5655C96B-0B9F-45AA-9B74-5AE761249A44}" type="pres">
      <dgm:prSet presAssocID="{E55B9835-F9BD-4B37-A275-D4A525228F95}" presName="parTx" presStyleLbl="revTx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0FF694C9-1DEF-4751-84D3-65F59A10081C}" type="pres">
      <dgm:prSet presAssocID="{7641143B-AEBD-46A1-8D9F-194EACECC50D}" presName="sibTrans" presStyleCnt="0"/>
      <dgm:spPr/>
    </dgm:pt>
    <dgm:pt modelId="{C5D983CE-4EEA-460E-A7B7-8CAE26C08607}" type="pres">
      <dgm:prSet presAssocID="{45B51EC6-22E7-4BE9-B9BB-D77C7F20BE09}" presName="compNode" presStyleCnt="0"/>
      <dgm:spPr/>
    </dgm:pt>
    <dgm:pt modelId="{30A40DEB-2E7D-4344-921A-75744FA8A566}" type="pres">
      <dgm:prSet presAssocID="{45B51EC6-22E7-4BE9-B9BB-D77C7F20BE09}" presName="bgRect" presStyleLbl="bgShp" presStyleIdx="2" presStyleCnt="4"/>
      <dgm:spPr/>
    </dgm:pt>
    <dgm:pt modelId="{5CD8B264-E410-49BF-B84D-CA0C3B849666}" type="pres">
      <dgm:prSet presAssocID="{45B51EC6-22E7-4BE9-B9BB-D77C7F20BE0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A161B6C-0874-4DE3-A763-F4121DB0D01E}" type="pres">
      <dgm:prSet presAssocID="{45B51EC6-22E7-4BE9-B9BB-D77C7F20BE09}" presName="spaceRect" presStyleCnt="0"/>
      <dgm:spPr/>
    </dgm:pt>
    <dgm:pt modelId="{C29A1C87-B29D-4EF3-87ED-C86DFBC8C12F}" type="pres">
      <dgm:prSet presAssocID="{45B51EC6-22E7-4BE9-B9BB-D77C7F20BE09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34442B8-1B87-474C-87B3-C58CBA9FE157}" type="pres">
      <dgm:prSet presAssocID="{F342FE3E-28CA-4F67-B2DD-84FC2476A7E2}" presName="sibTrans" presStyleCnt="0"/>
      <dgm:spPr/>
    </dgm:pt>
    <dgm:pt modelId="{36888C3D-FE3A-44E4-9002-E84A346158A1}" type="pres">
      <dgm:prSet presAssocID="{015F4DF1-0B08-4EE7-B7F3-41526B1708C8}" presName="compNode" presStyleCnt="0"/>
      <dgm:spPr/>
    </dgm:pt>
    <dgm:pt modelId="{751654DF-5AA1-40D2-9C1C-37735D1E0DA4}" type="pres">
      <dgm:prSet presAssocID="{015F4DF1-0B08-4EE7-B7F3-41526B1708C8}" presName="bgRect" presStyleLbl="bgShp" presStyleIdx="3" presStyleCnt="4"/>
      <dgm:spPr/>
    </dgm:pt>
    <dgm:pt modelId="{E28766ED-BFA5-46B3-9BC7-A70550ADF17E}" type="pres">
      <dgm:prSet presAssocID="{015F4DF1-0B08-4EE7-B7F3-41526B1708C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B02B9C61-B975-4946-8936-BE09E04D18DF}" type="pres">
      <dgm:prSet presAssocID="{015F4DF1-0B08-4EE7-B7F3-41526B1708C8}" presName="spaceRect" presStyleCnt="0"/>
      <dgm:spPr/>
    </dgm:pt>
    <dgm:pt modelId="{7C800B76-435B-46F0-AF60-CAFF6C9AAFEF}" type="pres">
      <dgm:prSet presAssocID="{015F4DF1-0B08-4EE7-B7F3-41526B1708C8}" presName="parTx" presStyleLbl="revTx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BB2FF1D2-1C17-4B17-9618-C9B65C37B918}" srcId="{47D0D43D-EAD3-44F1-A564-529E6C9534AF}" destId="{015F4DF1-0B08-4EE7-B7F3-41526B1708C8}" srcOrd="3" destOrd="0" parTransId="{09F84E45-AD9B-4F2D-B243-39EE4AF1A326}" sibTransId="{1F98DE36-AE7F-4ABF-8612-1D5847EE6B0D}"/>
    <dgm:cxn modelId="{7BCE4A95-6C78-46BE-9090-FC0A7907E328}" type="presOf" srcId="{BD34D414-8209-45AA-9C41-1F789CBAE08A}" destId="{CAC0E49B-A0BF-4C2C-9AD9-C9C71087AF46}" srcOrd="0" destOrd="0" presId="urn:microsoft.com/office/officeart/2018/2/layout/IconVerticalSolidList"/>
    <dgm:cxn modelId="{52D11E18-F6A4-44E4-8A3B-CE4D9007CBC5}" type="presOf" srcId="{45B51EC6-22E7-4BE9-B9BB-D77C7F20BE09}" destId="{C29A1C87-B29D-4EF3-87ED-C86DFBC8C12F}" srcOrd="0" destOrd="0" presId="urn:microsoft.com/office/officeart/2018/2/layout/IconVerticalSolidList"/>
    <dgm:cxn modelId="{39DA929C-267B-4D4D-89E8-E964E5E35C75}" type="presOf" srcId="{E55B9835-F9BD-4B37-A275-D4A525228F95}" destId="{5655C96B-0B9F-45AA-9B74-5AE761249A44}" srcOrd="0" destOrd="0" presId="urn:microsoft.com/office/officeart/2018/2/layout/IconVerticalSolidList"/>
    <dgm:cxn modelId="{3F4058BC-0B7D-48F0-A751-F0206751FCB8}" srcId="{47D0D43D-EAD3-44F1-A564-529E6C9534AF}" destId="{E55B9835-F9BD-4B37-A275-D4A525228F95}" srcOrd="1" destOrd="0" parTransId="{8EE8BABB-5108-4B80-A23C-E0D1F9CAAA66}" sibTransId="{7641143B-AEBD-46A1-8D9F-194EACECC50D}"/>
    <dgm:cxn modelId="{DF3A66ED-B395-47CF-8DA9-D221BEB367A8}" type="presOf" srcId="{47D0D43D-EAD3-44F1-A564-529E6C9534AF}" destId="{7A6F544F-A882-4DE9-8C78-AB23E6208884}" srcOrd="0" destOrd="0" presId="urn:microsoft.com/office/officeart/2018/2/layout/IconVerticalSolidList"/>
    <dgm:cxn modelId="{7388A3DC-4961-491C-804B-194E58676A14}" srcId="{47D0D43D-EAD3-44F1-A564-529E6C9534AF}" destId="{BD34D414-8209-45AA-9C41-1F789CBAE08A}" srcOrd="0" destOrd="0" parTransId="{68D3B0A6-3FFA-4BFC-8CA5-D3AC84A127D1}" sibTransId="{01F1498F-69FE-4B90-8876-1F7B801919F3}"/>
    <dgm:cxn modelId="{24E84EC7-815A-4F03-A4BC-B6629DCA7A46}" srcId="{47D0D43D-EAD3-44F1-A564-529E6C9534AF}" destId="{45B51EC6-22E7-4BE9-B9BB-D77C7F20BE09}" srcOrd="2" destOrd="0" parTransId="{BA660C4E-C77A-451F-A857-ABC3C8E6557F}" sibTransId="{F342FE3E-28CA-4F67-B2DD-84FC2476A7E2}"/>
    <dgm:cxn modelId="{E861937E-E038-4E11-B3F7-A57CC6293B4B}" type="presOf" srcId="{015F4DF1-0B08-4EE7-B7F3-41526B1708C8}" destId="{7C800B76-435B-46F0-AF60-CAFF6C9AAFEF}" srcOrd="0" destOrd="0" presId="urn:microsoft.com/office/officeart/2018/2/layout/IconVerticalSolidList"/>
    <dgm:cxn modelId="{E750D2F6-3134-4FE1-8E39-2AD2951E6B8E}" type="presParOf" srcId="{7A6F544F-A882-4DE9-8C78-AB23E6208884}" destId="{E7FBE040-B2D3-4B1F-94F7-6DA50810FC1F}" srcOrd="0" destOrd="0" presId="urn:microsoft.com/office/officeart/2018/2/layout/IconVerticalSolidList"/>
    <dgm:cxn modelId="{1313FD16-7386-43AE-B45B-A7DDA8B40F79}" type="presParOf" srcId="{E7FBE040-B2D3-4B1F-94F7-6DA50810FC1F}" destId="{9B31E953-18E1-4E4D-9CBB-D5A9FC460259}" srcOrd="0" destOrd="0" presId="urn:microsoft.com/office/officeart/2018/2/layout/IconVerticalSolidList"/>
    <dgm:cxn modelId="{E0F5167B-D76D-4ED4-B81F-E34C3A8A3F43}" type="presParOf" srcId="{E7FBE040-B2D3-4B1F-94F7-6DA50810FC1F}" destId="{F2230F80-2837-4A82-BE55-75E7AB32CC26}" srcOrd="1" destOrd="0" presId="urn:microsoft.com/office/officeart/2018/2/layout/IconVerticalSolidList"/>
    <dgm:cxn modelId="{75F6F43E-9F45-4A2D-B5B8-28E31C28CC94}" type="presParOf" srcId="{E7FBE040-B2D3-4B1F-94F7-6DA50810FC1F}" destId="{2D15F72A-D1B0-472F-AAE6-EABD443D9B4C}" srcOrd="2" destOrd="0" presId="urn:microsoft.com/office/officeart/2018/2/layout/IconVerticalSolidList"/>
    <dgm:cxn modelId="{5C3E8324-6CB7-4438-AD8A-C7876C964F69}" type="presParOf" srcId="{E7FBE040-B2D3-4B1F-94F7-6DA50810FC1F}" destId="{CAC0E49B-A0BF-4C2C-9AD9-C9C71087AF46}" srcOrd="3" destOrd="0" presId="urn:microsoft.com/office/officeart/2018/2/layout/IconVerticalSolidList"/>
    <dgm:cxn modelId="{5745B7B5-C3DD-4CB2-A0F8-7A4E8AD4B941}" type="presParOf" srcId="{7A6F544F-A882-4DE9-8C78-AB23E6208884}" destId="{003A578C-E321-45A3-830A-71CCAD7B5952}" srcOrd="1" destOrd="0" presId="urn:microsoft.com/office/officeart/2018/2/layout/IconVerticalSolidList"/>
    <dgm:cxn modelId="{4D0AE6F8-3FC3-4104-885A-09A19629F710}" type="presParOf" srcId="{7A6F544F-A882-4DE9-8C78-AB23E6208884}" destId="{53C438C3-049E-476C-93BF-E55444379FED}" srcOrd="2" destOrd="0" presId="urn:microsoft.com/office/officeart/2018/2/layout/IconVerticalSolidList"/>
    <dgm:cxn modelId="{FA56ABEF-2A29-49C7-BD78-874A45455309}" type="presParOf" srcId="{53C438C3-049E-476C-93BF-E55444379FED}" destId="{3D9F65A9-3292-443B-A787-3A1EB0222F9C}" srcOrd="0" destOrd="0" presId="urn:microsoft.com/office/officeart/2018/2/layout/IconVerticalSolidList"/>
    <dgm:cxn modelId="{028092F4-0DA1-4B44-9A98-B334E663FA78}" type="presParOf" srcId="{53C438C3-049E-476C-93BF-E55444379FED}" destId="{DBC0AFD6-7184-4A6E-975D-A0D2E36CCA12}" srcOrd="1" destOrd="0" presId="urn:microsoft.com/office/officeart/2018/2/layout/IconVerticalSolidList"/>
    <dgm:cxn modelId="{DFE811B7-E903-47A3-AA93-ADFAA1562D60}" type="presParOf" srcId="{53C438C3-049E-476C-93BF-E55444379FED}" destId="{C0E735D9-7ED4-477F-AD18-A1A4529ED0F8}" srcOrd="2" destOrd="0" presId="urn:microsoft.com/office/officeart/2018/2/layout/IconVerticalSolidList"/>
    <dgm:cxn modelId="{D688B96D-3207-456C-AB22-5D71B665EF7A}" type="presParOf" srcId="{53C438C3-049E-476C-93BF-E55444379FED}" destId="{5655C96B-0B9F-45AA-9B74-5AE761249A44}" srcOrd="3" destOrd="0" presId="urn:microsoft.com/office/officeart/2018/2/layout/IconVerticalSolidList"/>
    <dgm:cxn modelId="{BB0C972D-DCE9-4E20-B942-B7615F88439A}" type="presParOf" srcId="{7A6F544F-A882-4DE9-8C78-AB23E6208884}" destId="{0FF694C9-1DEF-4751-84D3-65F59A10081C}" srcOrd="3" destOrd="0" presId="urn:microsoft.com/office/officeart/2018/2/layout/IconVerticalSolidList"/>
    <dgm:cxn modelId="{269AEE71-5E9D-417C-B71C-011A3A183F83}" type="presParOf" srcId="{7A6F544F-A882-4DE9-8C78-AB23E6208884}" destId="{C5D983CE-4EEA-460E-A7B7-8CAE26C08607}" srcOrd="4" destOrd="0" presId="urn:microsoft.com/office/officeart/2018/2/layout/IconVerticalSolidList"/>
    <dgm:cxn modelId="{90CB5CE2-EDB6-4D9A-AB00-6C6D5C83D507}" type="presParOf" srcId="{C5D983CE-4EEA-460E-A7B7-8CAE26C08607}" destId="{30A40DEB-2E7D-4344-921A-75744FA8A566}" srcOrd="0" destOrd="0" presId="urn:microsoft.com/office/officeart/2018/2/layout/IconVerticalSolidList"/>
    <dgm:cxn modelId="{0951A043-CF21-44CA-B5DA-2E03DBDCA24A}" type="presParOf" srcId="{C5D983CE-4EEA-460E-A7B7-8CAE26C08607}" destId="{5CD8B264-E410-49BF-B84D-CA0C3B849666}" srcOrd="1" destOrd="0" presId="urn:microsoft.com/office/officeart/2018/2/layout/IconVerticalSolidList"/>
    <dgm:cxn modelId="{C9989678-41C7-4EB7-9CE6-F6EE81EFDDEF}" type="presParOf" srcId="{C5D983CE-4EEA-460E-A7B7-8CAE26C08607}" destId="{5A161B6C-0874-4DE3-A763-F4121DB0D01E}" srcOrd="2" destOrd="0" presId="urn:microsoft.com/office/officeart/2018/2/layout/IconVerticalSolidList"/>
    <dgm:cxn modelId="{2F343EE7-C3EB-45E9-B26A-B089B6C36BC6}" type="presParOf" srcId="{C5D983CE-4EEA-460E-A7B7-8CAE26C08607}" destId="{C29A1C87-B29D-4EF3-87ED-C86DFBC8C12F}" srcOrd="3" destOrd="0" presId="urn:microsoft.com/office/officeart/2018/2/layout/IconVerticalSolidList"/>
    <dgm:cxn modelId="{0DAF7DF6-DD6B-4516-A722-9B6E91A4B304}" type="presParOf" srcId="{7A6F544F-A882-4DE9-8C78-AB23E6208884}" destId="{D34442B8-1B87-474C-87B3-C58CBA9FE157}" srcOrd="5" destOrd="0" presId="urn:microsoft.com/office/officeart/2018/2/layout/IconVerticalSolidList"/>
    <dgm:cxn modelId="{F07DAE3F-B338-4C35-9775-6E51095004F3}" type="presParOf" srcId="{7A6F544F-A882-4DE9-8C78-AB23E6208884}" destId="{36888C3D-FE3A-44E4-9002-E84A346158A1}" srcOrd="6" destOrd="0" presId="urn:microsoft.com/office/officeart/2018/2/layout/IconVerticalSolidList"/>
    <dgm:cxn modelId="{B4B64D35-F47F-45AF-935D-D8D4FD9FD988}" type="presParOf" srcId="{36888C3D-FE3A-44E4-9002-E84A346158A1}" destId="{751654DF-5AA1-40D2-9C1C-37735D1E0DA4}" srcOrd="0" destOrd="0" presId="urn:microsoft.com/office/officeart/2018/2/layout/IconVerticalSolidList"/>
    <dgm:cxn modelId="{CDF7D95F-5D8F-447A-A13A-BC5E2AF3DC68}" type="presParOf" srcId="{36888C3D-FE3A-44E4-9002-E84A346158A1}" destId="{E28766ED-BFA5-46B3-9BC7-A70550ADF17E}" srcOrd="1" destOrd="0" presId="urn:microsoft.com/office/officeart/2018/2/layout/IconVerticalSolidList"/>
    <dgm:cxn modelId="{03AD191B-BAEC-4F19-A86A-C6F0BB9BE32F}" type="presParOf" srcId="{36888C3D-FE3A-44E4-9002-E84A346158A1}" destId="{B02B9C61-B975-4946-8936-BE09E04D18DF}" srcOrd="2" destOrd="0" presId="urn:microsoft.com/office/officeart/2018/2/layout/IconVerticalSolidList"/>
    <dgm:cxn modelId="{8C38E511-6347-4991-AF54-8EC31AF3F5EA}" type="presParOf" srcId="{36888C3D-FE3A-44E4-9002-E84A346158A1}" destId="{7C800B76-435B-46F0-AF60-CAFF6C9AAFE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A2D651-F082-457E-88D3-96B3D03B58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05954D0-9EC5-4478-8D03-BE0BE8580DF8}">
      <dgm:prSet/>
      <dgm:spPr/>
      <dgm:t>
        <a:bodyPr/>
        <a:lstStyle/>
        <a:p>
          <a:r>
            <a:rPr lang="en-US"/>
            <a:t>Systematically benchmark traditional time series models (ARIMA, SARIMA, Prophet) on London smart meter data</a:t>
          </a:r>
        </a:p>
      </dgm:t>
    </dgm:pt>
    <dgm:pt modelId="{90316BCF-8163-46E0-8286-9BBC7FE8A86F}" type="parTrans" cxnId="{809610D8-01FE-4C3C-89F3-EE18F39709DE}">
      <dgm:prSet/>
      <dgm:spPr/>
      <dgm:t>
        <a:bodyPr/>
        <a:lstStyle/>
        <a:p>
          <a:endParaRPr lang="en-US"/>
        </a:p>
      </dgm:t>
    </dgm:pt>
    <dgm:pt modelId="{4B0AD3B2-DCC0-4504-B2E4-C290C193B6CA}" type="sibTrans" cxnId="{809610D8-01FE-4C3C-89F3-EE18F39709DE}">
      <dgm:prSet/>
      <dgm:spPr/>
      <dgm:t>
        <a:bodyPr/>
        <a:lstStyle/>
        <a:p>
          <a:endParaRPr lang="en-US"/>
        </a:p>
      </dgm:t>
    </dgm:pt>
    <dgm:pt modelId="{6031A383-EA9D-4BDA-A217-C7D0246288E6}">
      <dgm:prSet/>
      <dgm:spPr/>
      <dgm:t>
        <a:bodyPr/>
        <a:lstStyle/>
        <a:p>
          <a:r>
            <a:rPr lang="en-US"/>
            <a:t>Develop and optimize machine learning models (XGBoost) for household energy consumption forecasting</a:t>
          </a:r>
        </a:p>
      </dgm:t>
    </dgm:pt>
    <dgm:pt modelId="{2F2B09A0-E7A2-4453-BC81-B5C11D9DC817}" type="parTrans" cxnId="{A7ABF797-2771-42C6-B49C-C218042E085D}">
      <dgm:prSet/>
      <dgm:spPr/>
      <dgm:t>
        <a:bodyPr/>
        <a:lstStyle/>
        <a:p>
          <a:endParaRPr lang="en-US"/>
        </a:p>
      </dgm:t>
    </dgm:pt>
    <dgm:pt modelId="{DA8E2296-A9E1-4EE7-8C63-3C4655545010}" type="sibTrans" cxnId="{A7ABF797-2771-42C6-B49C-C218042E085D}">
      <dgm:prSet/>
      <dgm:spPr/>
      <dgm:t>
        <a:bodyPr/>
        <a:lstStyle/>
        <a:p>
          <a:endParaRPr lang="en-US"/>
        </a:p>
      </dgm:t>
    </dgm:pt>
    <dgm:pt modelId="{E94D5FDB-19BB-42EA-BD71-B327E0C7A4CB}">
      <dgm:prSet/>
      <dgm:spPr/>
      <dgm:t>
        <a:bodyPr/>
        <a:lstStyle/>
        <a:p>
          <a:r>
            <a:rPr lang="en-US"/>
            <a:t>Implement deep learning architectures (LSTM) and evaluate performance across different temporal resolutions</a:t>
          </a:r>
        </a:p>
      </dgm:t>
    </dgm:pt>
    <dgm:pt modelId="{366ECCA3-2690-44B2-9204-C0A71C7B021D}" type="parTrans" cxnId="{6D7928BC-81F1-459F-8FAE-7B5E61CC2825}">
      <dgm:prSet/>
      <dgm:spPr/>
      <dgm:t>
        <a:bodyPr/>
        <a:lstStyle/>
        <a:p>
          <a:endParaRPr lang="en-US"/>
        </a:p>
      </dgm:t>
    </dgm:pt>
    <dgm:pt modelId="{A0B89BB0-D304-4A4C-8F0A-73DF57B00648}" type="sibTrans" cxnId="{6D7928BC-81F1-459F-8FAE-7B5E61CC2825}">
      <dgm:prSet/>
      <dgm:spPr/>
      <dgm:t>
        <a:bodyPr/>
        <a:lstStyle/>
        <a:p>
          <a:endParaRPr lang="en-US"/>
        </a:p>
      </dgm:t>
    </dgm:pt>
    <dgm:pt modelId="{D29B83B3-D9E3-4653-B043-F47529176D57}">
      <dgm:prSet/>
      <dgm:spPr/>
      <dgm:t>
        <a:bodyPr/>
        <a:lstStyle/>
        <a:p>
          <a:r>
            <a:rPr lang="en-US"/>
            <a:t>Test hybrid models (ARIMA-LSTM, ARIMA-XGBoost, XGBoost-LSTM) to assess whether model combinations improve accuracy</a:t>
          </a:r>
        </a:p>
      </dgm:t>
    </dgm:pt>
    <dgm:pt modelId="{B89A7D18-E0C2-4886-A8B0-D855537A98E8}" type="parTrans" cxnId="{A843D24F-3A30-4593-B6BB-5631317B6550}">
      <dgm:prSet/>
      <dgm:spPr/>
      <dgm:t>
        <a:bodyPr/>
        <a:lstStyle/>
        <a:p>
          <a:endParaRPr lang="en-US"/>
        </a:p>
      </dgm:t>
    </dgm:pt>
    <dgm:pt modelId="{12C210F8-5FFA-43BD-B747-3F6E3C0225E1}" type="sibTrans" cxnId="{A843D24F-3A30-4593-B6BB-5631317B6550}">
      <dgm:prSet/>
      <dgm:spPr/>
      <dgm:t>
        <a:bodyPr/>
        <a:lstStyle/>
        <a:p>
          <a:endParaRPr lang="en-US"/>
        </a:p>
      </dgm:t>
    </dgm:pt>
    <dgm:pt modelId="{CEE52B5E-C97F-442E-918E-DC199936A462}">
      <dgm:prSet/>
      <dgm:spPr/>
      <dgm:t>
        <a:bodyPr/>
        <a:lstStyle/>
        <a:p>
          <a:r>
            <a:rPr lang="en-US"/>
            <a:t>Compare all approaches across hourly, daily, and weekly forecasting horizons using standardized evaluation metrics</a:t>
          </a:r>
        </a:p>
      </dgm:t>
    </dgm:pt>
    <dgm:pt modelId="{F0BF5376-D61F-4500-AB4D-5FE5411DF882}" type="parTrans" cxnId="{4DAD62F8-D3D3-4FB2-ABB7-CE576FB0A313}">
      <dgm:prSet/>
      <dgm:spPr/>
      <dgm:t>
        <a:bodyPr/>
        <a:lstStyle/>
        <a:p>
          <a:endParaRPr lang="en-US"/>
        </a:p>
      </dgm:t>
    </dgm:pt>
    <dgm:pt modelId="{FF0C14DD-8B7C-4CAA-96D7-125A02AB44EE}" type="sibTrans" cxnId="{4DAD62F8-D3D3-4FB2-ABB7-CE576FB0A313}">
      <dgm:prSet/>
      <dgm:spPr/>
      <dgm:t>
        <a:bodyPr/>
        <a:lstStyle/>
        <a:p>
          <a:endParaRPr lang="en-US"/>
        </a:p>
      </dgm:t>
    </dgm:pt>
    <dgm:pt modelId="{3D3A5E97-0563-4BE0-923C-C1B6458E64A9}" type="pres">
      <dgm:prSet presAssocID="{CAA2D651-F082-457E-88D3-96B3D03B580C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3EE7B8C-19AF-40A4-8385-5D89174F90A1}" type="pres">
      <dgm:prSet presAssocID="{505954D0-9EC5-4478-8D03-BE0BE8580DF8}" presName="compNode" presStyleCnt="0"/>
      <dgm:spPr/>
    </dgm:pt>
    <dgm:pt modelId="{DE12E18F-E497-4D64-B0EA-F4C191DF68D4}" type="pres">
      <dgm:prSet presAssocID="{505954D0-9EC5-4478-8D03-BE0BE8580DF8}" presName="bgRect" presStyleLbl="bgShp" presStyleIdx="0" presStyleCnt="5"/>
      <dgm:spPr/>
    </dgm:pt>
    <dgm:pt modelId="{4462547F-D1EE-4147-9301-ACC8C74B65CA}" type="pres">
      <dgm:prSet presAssocID="{505954D0-9EC5-4478-8D03-BE0BE8580DF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E1AE56E-A9A4-49FD-A47B-9ED3086C98C7}" type="pres">
      <dgm:prSet presAssocID="{505954D0-9EC5-4478-8D03-BE0BE8580DF8}" presName="spaceRect" presStyleCnt="0"/>
      <dgm:spPr/>
    </dgm:pt>
    <dgm:pt modelId="{B78D3A09-0175-4439-AB9A-FA8C48F4B399}" type="pres">
      <dgm:prSet presAssocID="{505954D0-9EC5-4478-8D03-BE0BE8580DF8}" presName="parTx" presStyleLbl="revTx" presStyleIdx="0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6985317-A484-4D7A-BF82-F887AE724BFE}" type="pres">
      <dgm:prSet presAssocID="{4B0AD3B2-DCC0-4504-B2E4-C290C193B6CA}" presName="sibTrans" presStyleCnt="0"/>
      <dgm:spPr/>
    </dgm:pt>
    <dgm:pt modelId="{E067865A-7621-4883-A51B-9D3D773DFEA8}" type="pres">
      <dgm:prSet presAssocID="{6031A383-EA9D-4BDA-A217-C7D0246288E6}" presName="compNode" presStyleCnt="0"/>
      <dgm:spPr/>
    </dgm:pt>
    <dgm:pt modelId="{F2374330-0CB9-4C1A-8CC3-81D12C52EA11}" type="pres">
      <dgm:prSet presAssocID="{6031A383-EA9D-4BDA-A217-C7D0246288E6}" presName="bgRect" presStyleLbl="bgShp" presStyleIdx="1" presStyleCnt="5"/>
      <dgm:spPr/>
    </dgm:pt>
    <dgm:pt modelId="{B230A44D-C81C-4B93-9A71-D50B978ED23F}" type="pres">
      <dgm:prSet presAssocID="{6031A383-EA9D-4BDA-A217-C7D0246288E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C239901-08DD-43D0-B721-86E3C9E2F436}" type="pres">
      <dgm:prSet presAssocID="{6031A383-EA9D-4BDA-A217-C7D0246288E6}" presName="spaceRect" presStyleCnt="0"/>
      <dgm:spPr/>
    </dgm:pt>
    <dgm:pt modelId="{97C92A91-ABF3-4A7D-B330-162B18E03096}" type="pres">
      <dgm:prSet presAssocID="{6031A383-EA9D-4BDA-A217-C7D0246288E6}" presName="parTx" presStyleLbl="revTx" presStyleIdx="1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7DB63CA-46AF-4704-8C1D-A29011AF1966}" type="pres">
      <dgm:prSet presAssocID="{DA8E2296-A9E1-4EE7-8C63-3C4655545010}" presName="sibTrans" presStyleCnt="0"/>
      <dgm:spPr/>
    </dgm:pt>
    <dgm:pt modelId="{956174F5-88ED-40D6-84B0-794B1C69EFD9}" type="pres">
      <dgm:prSet presAssocID="{E94D5FDB-19BB-42EA-BD71-B327E0C7A4CB}" presName="compNode" presStyleCnt="0"/>
      <dgm:spPr/>
    </dgm:pt>
    <dgm:pt modelId="{AD153911-871D-4188-80AA-9A76A8AA3A56}" type="pres">
      <dgm:prSet presAssocID="{E94D5FDB-19BB-42EA-BD71-B327E0C7A4CB}" presName="bgRect" presStyleLbl="bgShp" presStyleIdx="2" presStyleCnt="5"/>
      <dgm:spPr/>
    </dgm:pt>
    <dgm:pt modelId="{AD97D24B-5399-4234-BAA0-993E77AF3B7B}" type="pres">
      <dgm:prSet presAssocID="{E94D5FDB-19BB-42EA-BD71-B327E0C7A4C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3F1150D-E7C9-4E9B-8BF1-1C652B1F00B8}" type="pres">
      <dgm:prSet presAssocID="{E94D5FDB-19BB-42EA-BD71-B327E0C7A4CB}" presName="spaceRect" presStyleCnt="0"/>
      <dgm:spPr/>
    </dgm:pt>
    <dgm:pt modelId="{33815974-EDA8-47C6-BFE2-4809B9BEE2C8}" type="pres">
      <dgm:prSet presAssocID="{E94D5FDB-19BB-42EA-BD71-B327E0C7A4CB}" presName="parTx" presStyleLbl="revTx" presStyleIdx="2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5751466-AA8E-43C9-9591-D98183CBD372}" type="pres">
      <dgm:prSet presAssocID="{A0B89BB0-D304-4A4C-8F0A-73DF57B00648}" presName="sibTrans" presStyleCnt="0"/>
      <dgm:spPr/>
    </dgm:pt>
    <dgm:pt modelId="{CA6E8272-788B-4A8A-A0C8-C30ED29C3DE0}" type="pres">
      <dgm:prSet presAssocID="{D29B83B3-D9E3-4653-B043-F47529176D57}" presName="compNode" presStyleCnt="0"/>
      <dgm:spPr/>
    </dgm:pt>
    <dgm:pt modelId="{09ED7706-A938-44E5-BD42-43E9E4ED1FC9}" type="pres">
      <dgm:prSet presAssocID="{D29B83B3-D9E3-4653-B043-F47529176D57}" presName="bgRect" presStyleLbl="bgShp" presStyleIdx="3" presStyleCnt="5"/>
      <dgm:spPr/>
    </dgm:pt>
    <dgm:pt modelId="{4DBCC930-E4BD-402B-A753-FF49F46F0152}" type="pres">
      <dgm:prSet presAssocID="{D29B83B3-D9E3-4653-B043-F47529176D5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4755C65D-7777-4CF0-A975-D2C67A1D425F}" type="pres">
      <dgm:prSet presAssocID="{D29B83B3-D9E3-4653-B043-F47529176D57}" presName="spaceRect" presStyleCnt="0"/>
      <dgm:spPr/>
    </dgm:pt>
    <dgm:pt modelId="{84864934-5E68-499C-9D56-B6EF5E2B4EF2}" type="pres">
      <dgm:prSet presAssocID="{D29B83B3-D9E3-4653-B043-F47529176D57}" presName="parTx" presStyleLbl="revTx" presStyleIdx="3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C8DCD0B-4CAF-4F93-8C71-9BD7782EF548}" type="pres">
      <dgm:prSet presAssocID="{12C210F8-5FFA-43BD-B747-3F6E3C0225E1}" presName="sibTrans" presStyleCnt="0"/>
      <dgm:spPr/>
    </dgm:pt>
    <dgm:pt modelId="{0EFAEF87-08E2-4192-B202-D29D088875ED}" type="pres">
      <dgm:prSet presAssocID="{CEE52B5E-C97F-442E-918E-DC199936A462}" presName="compNode" presStyleCnt="0"/>
      <dgm:spPr/>
    </dgm:pt>
    <dgm:pt modelId="{6808C2E3-43CF-494D-99FE-65CF3F8FB73B}" type="pres">
      <dgm:prSet presAssocID="{CEE52B5E-C97F-442E-918E-DC199936A462}" presName="bgRect" presStyleLbl="bgShp" presStyleIdx="4" presStyleCnt="5"/>
      <dgm:spPr/>
    </dgm:pt>
    <dgm:pt modelId="{6F3AFE33-8A07-48FB-97C7-7B19D030C38D}" type="pres">
      <dgm:prSet presAssocID="{CEE52B5E-C97F-442E-918E-DC199936A46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A48265F4-166F-4DA1-B592-5C7169B24CE8}" type="pres">
      <dgm:prSet presAssocID="{CEE52B5E-C97F-442E-918E-DC199936A462}" presName="spaceRect" presStyleCnt="0"/>
      <dgm:spPr/>
    </dgm:pt>
    <dgm:pt modelId="{ACC07C8F-7E2D-449C-BADC-F5FAA0FA97CB}" type="pres">
      <dgm:prSet presAssocID="{CEE52B5E-C97F-442E-918E-DC199936A462}" presName="parTx" presStyleLbl="revTx" presStyleIdx="4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928BC-81F1-459F-8FAE-7B5E61CC2825}" srcId="{CAA2D651-F082-457E-88D3-96B3D03B580C}" destId="{E94D5FDB-19BB-42EA-BD71-B327E0C7A4CB}" srcOrd="2" destOrd="0" parTransId="{366ECCA3-2690-44B2-9204-C0A71C7B021D}" sibTransId="{A0B89BB0-D304-4A4C-8F0A-73DF57B00648}"/>
    <dgm:cxn modelId="{587C2409-0FD7-4863-A906-2FB0EBB8019A}" type="presOf" srcId="{CAA2D651-F082-457E-88D3-96B3D03B580C}" destId="{3D3A5E97-0563-4BE0-923C-C1B6458E64A9}" srcOrd="0" destOrd="0" presId="urn:microsoft.com/office/officeart/2018/2/layout/IconVerticalSolidList"/>
    <dgm:cxn modelId="{4DAD62F8-D3D3-4FB2-ABB7-CE576FB0A313}" srcId="{CAA2D651-F082-457E-88D3-96B3D03B580C}" destId="{CEE52B5E-C97F-442E-918E-DC199936A462}" srcOrd="4" destOrd="0" parTransId="{F0BF5376-D61F-4500-AB4D-5FE5411DF882}" sibTransId="{FF0C14DD-8B7C-4CAA-96D7-125A02AB44EE}"/>
    <dgm:cxn modelId="{47201C43-2861-46CB-BE82-3D3918892EC1}" type="presOf" srcId="{E94D5FDB-19BB-42EA-BD71-B327E0C7A4CB}" destId="{33815974-EDA8-47C6-BFE2-4809B9BEE2C8}" srcOrd="0" destOrd="0" presId="urn:microsoft.com/office/officeart/2018/2/layout/IconVerticalSolidList"/>
    <dgm:cxn modelId="{A843D24F-3A30-4593-B6BB-5631317B6550}" srcId="{CAA2D651-F082-457E-88D3-96B3D03B580C}" destId="{D29B83B3-D9E3-4653-B043-F47529176D57}" srcOrd="3" destOrd="0" parTransId="{B89A7D18-E0C2-4886-A8B0-D855537A98E8}" sibTransId="{12C210F8-5FFA-43BD-B747-3F6E3C0225E1}"/>
    <dgm:cxn modelId="{A7ABF797-2771-42C6-B49C-C218042E085D}" srcId="{CAA2D651-F082-457E-88D3-96B3D03B580C}" destId="{6031A383-EA9D-4BDA-A217-C7D0246288E6}" srcOrd="1" destOrd="0" parTransId="{2F2B09A0-E7A2-4453-BC81-B5C11D9DC817}" sibTransId="{DA8E2296-A9E1-4EE7-8C63-3C4655545010}"/>
    <dgm:cxn modelId="{D107AC0E-FDD9-4B50-A24C-F7848D5C032A}" type="presOf" srcId="{505954D0-9EC5-4478-8D03-BE0BE8580DF8}" destId="{B78D3A09-0175-4439-AB9A-FA8C48F4B399}" srcOrd="0" destOrd="0" presId="urn:microsoft.com/office/officeart/2018/2/layout/IconVerticalSolidList"/>
    <dgm:cxn modelId="{809610D8-01FE-4C3C-89F3-EE18F39709DE}" srcId="{CAA2D651-F082-457E-88D3-96B3D03B580C}" destId="{505954D0-9EC5-4478-8D03-BE0BE8580DF8}" srcOrd="0" destOrd="0" parTransId="{90316BCF-8163-46E0-8286-9BBC7FE8A86F}" sibTransId="{4B0AD3B2-DCC0-4504-B2E4-C290C193B6CA}"/>
    <dgm:cxn modelId="{2E6368D2-09A2-40A1-AD22-F7AFA20CA6C0}" type="presOf" srcId="{6031A383-EA9D-4BDA-A217-C7D0246288E6}" destId="{97C92A91-ABF3-4A7D-B330-162B18E03096}" srcOrd="0" destOrd="0" presId="urn:microsoft.com/office/officeart/2018/2/layout/IconVerticalSolidList"/>
    <dgm:cxn modelId="{9832BBA5-37EC-4FD2-B171-39D126F5D7E0}" type="presOf" srcId="{D29B83B3-D9E3-4653-B043-F47529176D57}" destId="{84864934-5E68-499C-9D56-B6EF5E2B4EF2}" srcOrd="0" destOrd="0" presId="urn:microsoft.com/office/officeart/2018/2/layout/IconVerticalSolidList"/>
    <dgm:cxn modelId="{4EF06849-7918-4F37-A309-48719D287470}" type="presOf" srcId="{CEE52B5E-C97F-442E-918E-DC199936A462}" destId="{ACC07C8F-7E2D-449C-BADC-F5FAA0FA97CB}" srcOrd="0" destOrd="0" presId="urn:microsoft.com/office/officeart/2018/2/layout/IconVerticalSolidList"/>
    <dgm:cxn modelId="{A112F790-C377-4C05-9841-FC5919E25E2C}" type="presParOf" srcId="{3D3A5E97-0563-4BE0-923C-C1B6458E64A9}" destId="{43EE7B8C-19AF-40A4-8385-5D89174F90A1}" srcOrd="0" destOrd="0" presId="urn:microsoft.com/office/officeart/2018/2/layout/IconVerticalSolidList"/>
    <dgm:cxn modelId="{7618D243-F278-42F9-8A01-5EC64732C32E}" type="presParOf" srcId="{43EE7B8C-19AF-40A4-8385-5D89174F90A1}" destId="{DE12E18F-E497-4D64-B0EA-F4C191DF68D4}" srcOrd="0" destOrd="0" presId="urn:microsoft.com/office/officeart/2018/2/layout/IconVerticalSolidList"/>
    <dgm:cxn modelId="{B4689779-5E35-4094-A1FE-FA5227FDD1AB}" type="presParOf" srcId="{43EE7B8C-19AF-40A4-8385-5D89174F90A1}" destId="{4462547F-D1EE-4147-9301-ACC8C74B65CA}" srcOrd="1" destOrd="0" presId="urn:microsoft.com/office/officeart/2018/2/layout/IconVerticalSolidList"/>
    <dgm:cxn modelId="{92344D0E-65AE-4AB7-8C5C-114510724067}" type="presParOf" srcId="{43EE7B8C-19AF-40A4-8385-5D89174F90A1}" destId="{AE1AE56E-A9A4-49FD-A47B-9ED3086C98C7}" srcOrd="2" destOrd="0" presId="urn:microsoft.com/office/officeart/2018/2/layout/IconVerticalSolidList"/>
    <dgm:cxn modelId="{77917C80-3868-4017-B8C2-FAE1DF2FC544}" type="presParOf" srcId="{43EE7B8C-19AF-40A4-8385-5D89174F90A1}" destId="{B78D3A09-0175-4439-AB9A-FA8C48F4B399}" srcOrd="3" destOrd="0" presId="urn:microsoft.com/office/officeart/2018/2/layout/IconVerticalSolidList"/>
    <dgm:cxn modelId="{0510E853-1AEE-4B72-8ED6-D0EAC5ABA32C}" type="presParOf" srcId="{3D3A5E97-0563-4BE0-923C-C1B6458E64A9}" destId="{46985317-A484-4D7A-BF82-F887AE724BFE}" srcOrd="1" destOrd="0" presId="urn:microsoft.com/office/officeart/2018/2/layout/IconVerticalSolidList"/>
    <dgm:cxn modelId="{730E7AB3-9A16-4F11-AB16-17447F90DFCF}" type="presParOf" srcId="{3D3A5E97-0563-4BE0-923C-C1B6458E64A9}" destId="{E067865A-7621-4883-A51B-9D3D773DFEA8}" srcOrd="2" destOrd="0" presId="urn:microsoft.com/office/officeart/2018/2/layout/IconVerticalSolidList"/>
    <dgm:cxn modelId="{95B3240D-F20B-4EA7-B87B-FBEB77CB8733}" type="presParOf" srcId="{E067865A-7621-4883-A51B-9D3D773DFEA8}" destId="{F2374330-0CB9-4C1A-8CC3-81D12C52EA11}" srcOrd="0" destOrd="0" presId="urn:microsoft.com/office/officeart/2018/2/layout/IconVerticalSolidList"/>
    <dgm:cxn modelId="{075610B1-3114-47FE-B6BF-B6727BDCE7C9}" type="presParOf" srcId="{E067865A-7621-4883-A51B-9D3D773DFEA8}" destId="{B230A44D-C81C-4B93-9A71-D50B978ED23F}" srcOrd="1" destOrd="0" presId="urn:microsoft.com/office/officeart/2018/2/layout/IconVerticalSolidList"/>
    <dgm:cxn modelId="{248538FD-2CF3-42D8-A287-068243BCB7AB}" type="presParOf" srcId="{E067865A-7621-4883-A51B-9D3D773DFEA8}" destId="{FC239901-08DD-43D0-B721-86E3C9E2F436}" srcOrd="2" destOrd="0" presId="urn:microsoft.com/office/officeart/2018/2/layout/IconVerticalSolidList"/>
    <dgm:cxn modelId="{A7A692EE-CA05-423D-A454-DBF94D16C9F2}" type="presParOf" srcId="{E067865A-7621-4883-A51B-9D3D773DFEA8}" destId="{97C92A91-ABF3-4A7D-B330-162B18E03096}" srcOrd="3" destOrd="0" presId="urn:microsoft.com/office/officeart/2018/2/layout/IconVerticalSolidList"/>
    <dgm:cxn modelId="{ABAB45DF-B942-4BDF-9618-936FFDAFED4F}" type="presParOf" srcId="{3D3A5E97-0563-4BE0-923C-C1B6458E64A9}" destId="{37DB63CA-46AF-4704-8C1D-A29011AF1966}" srcOrd="3" destOrd="0" presId="urn:microsoft.com/office/officeart/2018/2/layout/IconVerticalSolidList"/>
    <dgm:cxn modelId="{1DA65377-5A24-4716-B8EE-40CCAF98BFA7}" type="presParOf" srcId="{3D3A5E97-0563-4BE0-923C-C1B6458E64A9}" destId="{956174F5-88ED-40D6-84B0-794B1C69EFD9}" srcOrd="4" destOrd="0" presId="urn:microsoft.com/office/officeart/2018/2/layout/IconVerticalSolidList"/>
    <dgm:cxn modelId="{67DA7992-7E6E-4EC9-9601-4E2E78D474C9}" type="presParOf" srcId="{956174F5-88ED-40D6-84B0-794B1C69EFD9}" destId="{AD153911-871D-4188-80AA-9A76A8AA3A56}" srcOrd="0" destOrd="0" presId="urn:microsoft.com/office/officeart/2018/2/layout/IconVerticalSolidList"/>
    <dgm:cxn modelId="{6DFE4ADA-3B2F-4D19-B3C2-069128608587}" type="presParOf" srcId="{956174F5-88ED-40D6-84B0-794B1C69EFD9}" destId="{AD97D24B-5399-4234-BAA0-993E77AF3B7B}" srcOrd="1" destOrd="0" presId="urn:microsoft.com/office/officeart/2018/2/layout/IconVerticalSolidList"/>
    <dgm:cxn modelId="{12E03A17-9A91-47AC-B201-4F033D881CD6}" type="presParOf" srcId="{956174F5-88ED-40D6-84B0-794B1C69EFD9}" destId="{53F1150D-E7C9-4E9B-8BF1-1C652B1F00B8}" srcOrd="2" destOrd="0" presId="urn:microsoft.com/office/officeart/2018/2/layout/IconVerticalSolidList"/>
    <dgm:cxn modelId="{BEB1DE5D-BD2A-4D57-AE8D-74316DFC749F}" type="presParOf" srcId="{956174F5-88ED-40D6-84B0-794B1C69EFD9}" destId="{33815974-EDA8-47C6-BFE2-4809B9BEE2C8}" srcOrd="3" destOrd="0" presId="urn:microsoft.com/office/officeart/2018/2/layout/IconVerticalSolidList"/>
    <dgm:cxn modelId="{5487BE0E-7718-4A39-A7AA-7628C1BBA716}" type="presParOf" srcId="{3D3A5E97-0563-4BE0-923C-C1B6458E64A9}" destId="{55751466-AA8E-43C9-9591-D98183CBD372}" srcOrd="5" destOrd="0" presId="urn:microsoft.com/office/officeart/2018/2/layout/IconVerticalSolidList"/>
    <dgm:cxn modelId="{CF9D7EA5-BBC3-4FDE-A9E5-B54E41487729}" type="presParOf" srcId="{3D3A5E97-0563-4BE0-923C-C1B6458E64A9}" destId="{CA6E8272-788B-4A8A-A0C8-C30ED29C3DE0}" srcOrd="6" destOrd="0" presId="urn:microsoft.com/office/officeart/2018/2/layout/IconVerticalSolidList"/>
    <dgm:cxn modelId="{8A69272C-F052-4D94-AF87-2EC5437A6160}" type="presParOf" srcId="{CA6E8272-788B-4A8A-A0C8-C30ED29C3DE0}" destId="{09ED7706-A938-44E5-BD42-43E9E4ED1FC9}" srcOrd="0" destOrd="0" presId="urn:microsoft.com/office/officeart/2018/2/layout/IconVerticalSolidList"/>
    <dgm:cxn modelId="{E46D92CC-949C-44C9-984D-768DE1C38D0A}" type="presParOf" srcId="{CA6E8272-788B-4A8A-A0C8-C30ED29C3DE0}" destId="{4DBCC930-E4BD-402B-A753-FF49F46F0152}" srcOrd="1" destOrd="0" presId="urn:microsoft.com/office/officeart/2018/2/layout/IconVerticalSolidList"/>
    <dgm:cxn modelId="{F937AC79-8568-4131-AA11-ABD6C09529F9}" type="presParOf" srcId="{CA6E8272-788B-4A8A-A0C8-C30ED29C3DE0}" destId="{4755C65D-7777-4CF0-A975-D2C67A1D425F}" srcOrd="2" destOrd="0" presId="urn:microsoft.com/office/officeart/2018/2/layout/IconVerticalSolidList"/>
    <dgm:cxn modelId="{445FC8D1-5BEC-44DE-A57B-32AF5D713C39}" type="presParOf" srcId="{CA6E8272-788B-4A8A-A0C8-C30ED29C3DE0}" destId="{84864934-5E68-499C-9D56-B6EF5E2B4EF2}" srcOrd="3" destOrd="0" presId="urn:microsoft.com/office/officeart/2018/2/layout/IconVerticalSolidList"/>
    <dgm:cxn modelId="{3FA301EF-E73B-42C1-9AB1-07F6E185E6E0}" type="presParOf" srcId="{3D3A5E97-0563-4BE0-923C-C1B6458E64A9}" destId="{2C8DCD0B-4CAF-4F93-8C71-9BD7782EF548}" srcOrd="7" destOrd="0" presId="urn:microsoft.com/office/officeart/2018/2/layout/IconVerticalSolidList"/>
    <dgm:cxn modelId="{2618503D-FF69-4061-BA21-7CE4AA293445}" type="presParOf" srcId="{3D3A5E97-0563-4BE0-923C-C1B6458E64A9}" destId="{0EFAEF87-08E2-4192-B202-D29D088875ED}" srcOrd="8" destOrd="0" presId="urn:microsoft.com/office/officeart/2018/2/layout/IconVerticalSolidList"/>
    <dgm:cxn modelId="{9AA2981C-7EE7-40AF-8666-D63765A3E665}" type="presParOf" srcId="{0EFAEF87-08E2-4192-B202-D29D088875ED}" destId="{6808C2E3-43CF-494D-99FE-65CF3F8FB73B}" srcOrd="0" destOrd="0" presId="urn:microsoft.com/office/officeart/2018/2/layout/IconVerticalSolidList"/>
    <dgm:cxn modelId="{4AE91DDD-0D2E-46B8-9C20-0EA01EDBDB52}" type="presParOf" srcId="{0EFAEF87-08E2-4192-B202-D29D088875ED}" destId="{6F3AFE33-8A07-48FB-97C7-7B19D030C38D}" srcOrd="1" destOrd="0" presId="urn:microsoft.com/office/officeart/2018/2/layout/IconVerticalSolidList"/>
    <dgm:cxn modelId="{7D5C96BB-B652-47DF-BC9A-F21FB637C93D}" type="presParOf" srcId="{0EFAEF87-08E2-4192-B202-D29D088875ED}" destId="{A48265F4-166F-4DA1-B592-5C7169B24CE8}" srcOrd="2" destOrd="0" presId="urn:microsoft.com/office/officeart/2018/2/layout/IconVerticalSolidList"/>
    <dgm:cxn modelId="{D2C57C94-6E42-4A7E-BB6F-7BAAF80D4536}" type="presParOf" srcId="{0EFAEF87-08E2-4192-B202-D29D088875ED}" destId="{ACC07C8F-7E2D-449C-BADC-F5FAA0FA97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31E953-18E1-4E4D-9CBB-D5A9FC460259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30F80-2837-4A82-BE55-75E7AB32CC26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0E49B-A0BF-4C2C-9AD9-C9C71087AF46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Household electricity consumption exhibits high volatility and nonlinear patterns that traditional methods struggle to capture</a:t>
          </a:r>
        </a:p>
      </dsp:txBody>
      <dsp:txXfrm>
        <a:off x="1357965" y="2319"/>
        <a:ext cx="3325983" cy="1175727"/>
      </dsp:txXfrm>
    </dsp:sp>
    <dsp:sp modelId="{3D9F65A9-3292-443B-A787-3A1EB0222F9C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C0AFD6-7184-4A6E-975D-A0D2E36CCA12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55C96B-0B9F-45AA-9B74-5AE761249A44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Traditional statistical methods (ARIMA) fail to model complex temporal dependencies and sudden consumption changes</a:t>
          </a:r>
        </a:p>
      </dsp:txBody>
      <dsp:txXfrm>
        <a:off x="1357965" y="1471979"/>
        <a:ext cx="3325983" cy="1175727"/>
      </dsp:txXfrm>
    </dsp:sp>
    <dsp:sp modelId="{30A40DEB-2E7D-4344-921A-75744FA8A566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8B264-E410-49BF-B84D-CA0C3B849666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A1C87-B29D-4EF3-87ED-C86DFBC8C12F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Machine learning and deep learning show promise but their comparative performance across different temporal horizons remains unclear</a:t>
          </a:r>
        </a:p>
      </dsp:txBody>
      <dsp:txXfrm>
        <a:off x="1357965" y="2941639"/>
        <a:ext cx="3325983" cy="1175727"/>
      </dsp:txXfrm>
    </dsp:sp>
    <dsp:sp modelId="{751654DF-5AA1-40D2-9C1C-37735D1E0DA4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8766ED-BFA5-46B3-9BC7-A70550ADF17E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00B76-435B-46F0-AF60-CAFF6C9AAFEF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Challenge: Identifying optimal forecasting methods for hourly, daily, and weekly energy predictions using real smart meter data</a:t>
          </a:r>
        </a:p>
      </dsp:txBody>
      <dsp:txXfrm>
        <a:off x="1357965" y="4411299"/>
        <a:ext cx="3325983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2E18F-E497-4D64-B0EA-F4C191DF68D4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62547F-D1EE-4147-9301-ACC8C74B65CA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D3A09-0175-4439-AB9A-FA8C48F4B399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Systematically benchmark traditional time series models (ARIMA, SARIMA, Prophet) on London smart meter data</a:t>
          </a:r>
        </a:p>
      </dsp:txBody>
      <dsp:txXfrm>
        <a:off x="1074268" y="4366"/>
        <a:ext cx="3609680" cy="930102"/>
      </dsp:txXfrm>
    </dsp:sp>
    <dsp:sp modelId="{F2374330-0CB9-4C1A-8CC3-81D12C52EA11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30A44D-C81C-4B93-9A71-D50B978ED23F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92A91-ABF3-4A7D-B330-162B18E03096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Develop and optimize machine learning models (XGBoost) for household energy consumption forecasting</a:t>
          </a:r>
        </a:p>
      </dsp:txBody>
      <dsp:txXfrm>
        <a:off x="1074268" y="1166994"/>
        <a:ext cx="3609680" cy="930102"/>
      </dsp:txXfrm>
    </dsp:sp>
    <dsp:sp modelId="{AD153911-871D-4188-80AA-9A76A8AA3A56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97D24B-5399-4234-BAA0-993E77AF3B7B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15974-EDA8-47C6-BFE2-4809B9BEE2C8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Implement deep learning architectures (LSTM) and evaluate performance across different temporal resolutions</a:t>
          </a:r>
        </a:p>
      </dsp:txBody>
      <dsp:txXfrm>
        <a:off x="1074268" y="2329622"/>
        <a:ext cx="3609680" cy="930102"/>
      </dsp:txXfrm>
    </dsp:sp>
    <dsp:sp modelId="{09ED7706-A938-44E5-BD42-43E9E4ED1FC9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BCC930-E4BD-402B-A753-FF49F46F0152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64934-5E68-499C-9D56-B6EF5E2B4EF2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Test hybrid models (ARIMA-LSTM, ARIMA-XGBoost, XGBoost-LSTM) to assess whether model combinations improve accuracy</a:t>
          </a:r>
        </a:p>
      </dsp:txBody>
      <dsp:txXfrm>
        <a:off x="1074268" y="3492250"/>
        <a:ext cx="3609680" cy="930102"/>
      </dsp:txXfrm>
    </dsp:sp>
    <dsp:sp modelId="{6808C2E3-43CF-494D-99FE-65CF3F8FB73B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3AFE33-8A07-48FB-97C7-7B19D030C38D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07C8F-7E2D-449C-BADC-F5FAA0FA97CB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Compare all approaches across hourly, daily, and weekly forecasting horizons using standardized evaluation metrics</a:t>
          </a:r>
        </a:p>
      </dsp:txBody>
      <dsp:txXfrm>
        <a:off x="1074268" y="4654878"/>
        <a:ext cx="3609680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6205" y="1271239"/>
            <a:ext cx="63115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2060"/>
                </a:solidFill>
              </a:defRPr>
            </a:pPr>
            <a:r>
              <a:rPr lang="en-US" sz="3200" dirty="0"/>
              <a:t>TIME SERIES AND MACHINE LEARNING FORECASTING OF ENERGY CONSUMPTION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8743" y="3840480"/>
            <a:ext cx="318651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rPr dirty="0"/>
              <a:t>A Data Analytics Perspective</a:t>
            </a:r>
          </a:p>
          <a:p>
            <a:pPr algn="ctr">
              <a:defRPr sz="1800"/>
            </a:pPr>
            <a:r>
              <a:rPr lang="en-US" dirty="0"/>
              <a:t>Name: </a:t>
            </a:r>
            <a:r>
              <a:rPr lang="en-US" dirty="0" smtClean="0"/>
              <a:t> </a:t>
            </a:r>
            <a:r>
              <a:rPr lang="en-US" dirty="0" err="1" smtClean="0"/>
              <a:t>Moeez</a:t>
            </a:r>
            <a:r>
              <a:rPr lang="en-US" dirty="0" smtClean="0"/>
              <a:t> </a:t>
            </a:r>
            <a:r>
              <a:rPr lang="en-US" dirty="0" err="1" smtClean="0"/>
              <a:t>Ul</a:t>
            </a:r>
            <a:r>
              <a:rPr lang="en-US" dirty="0" smtClean="0"/>
              <a:t> Din</a:t>
            </a:r>
            <a:endParaRPr dirty="0"/>
          </a:p>
          <a:p>
            <a:pPr algn="ctr">
              <a:defRPr sz="1800"/>
            </a:pPr>
            <a:r>
              <a:rPr dirty="0"/>
              <a:t>Supervisor</a:t>
            </a:r>
            <a:r>
              <a:rPr dirty="0" smtClean="0"/>
              <a:t>:</a:t>
            </a:r>
            <a:r>
              <a:rPr lang="en-US" dirty="0" smtClean="0"/>
              <a:t> </a:t>
            </a:r>
            <a:r>
              <a:rPr lang="en-US" dirty="0" err="1" smtClean="0"/>
              <a:t>Kislay</a:t>
            </a:r>
            <a:r>
              <a:rPr lang="en-US" smtClean="0"/>
              <a:t> Raj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9545" y="1070800"/>
            <a:ext cx="2954766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2060"/>
                </a:solidFill>
              </a:defRPr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E8734C6-D7CE-43A1-EE4B-40DF07B15C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060855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9545" y="1070800"/>
            <a:ext cx="2954766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2060"/>
                </a:solidFill>
              </a:defRPr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RESEARCH OBJECTIVES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390F9A8-1591-1EB6-8293-E5E3A9EA3C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64261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4784" y="248038"/>
            <a:ext cx="529779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2060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963132"/>
              </p:ext>
            </p:extLst>
          </p:nvPr>
        </p:nvGraphicFramePr>
        <p:xfrm>
          <a:off x="324168" y="2298921"/>
          <a:ext cx="8495664" cy="3786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5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01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2000"/>
                        <a:t>Study</a:t>
                      </a:r>
                    </a:p>
                  </a:txBody>
                  <a:tcPr marL="139910" marR="139910" marT="69955" marB="6995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2000"/>
                        <a:t>Approach</a:t>
                      </a:r>
                    </a:p>
                  </a:txBody>
                  <a:tcPr marL="139910" marR="139910" marT="69955" marB="6995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2000"/>
                        <a:t>Best Result</a:t>
                      </a:r>
                    </a:p>
                  </a:txBody>
                  <a:tcPr marL="139910" marR="139910" marT="69955" marB="69955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2000"/>
                        <a:t>Key Finding</a:t>
                      </a:r>
                    </a:p>
                  </a:txBody>
                  <a:tcPr marL="139910" marR="139910" marT="69955" marB="69955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87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Buratto et al. (2024)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Wavelet CNN-LSTM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1.48% MAPE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Hybrid DL effective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87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Abumohsen &amp; Owda (2024)</a:t>
                      </a:r>
                    </a:p>
                  </a:txBody>
                  <a:tcPr marL="139910" marR="139910" marT="69955" marB="69955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CNN-LSTM-RF</a:t>
                      </a:r>
                    </a:p>
                  </a:txBody>
                  <a:tcPr marL="139910" marR="139910" marT="69955" marB="69955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R²=92%</a:t>
                      </a:r>
                    </a:p>
                  </a:txBody>
                  <a:tcPr marL="139910" marR="139910" marT="69955" marB="69955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3-way hybrid superior</a:t>
                      </a:r>
                    </a:p>
                  </a:txBody>
                  <a:tcPr marL="139910" marR="139910" marT="69955" marB="6995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377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Hasanat (2024)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1D CNN-Bi-LSTM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3.4% MAPE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Parallel&gt;stacked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87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Moosbrugger et al. (2025)</a:t>
                      </a:r>
                    </a:p>
                  </a:txBody>
                  <a:tcPr marL="139910" marR="139910" marT="69955" marB="69955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xLSTM vs Transformer</a:t>
                      </a:r>
                    </a:p>
                  </a:txBody>
                  <a:tcPr marL="139910" marR="139910" marT="69955" marB="69955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Linear scaling</a:t>
                      </a:r>
                    </a:p>
                  </a:txBody>
                  <a:tcPr marL="139910" marR="139910" marT="69955" marB="69955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xLSTM promising</a:t>
                      </a:r>
                    </a:p>
                  </a:txBody>
                  <a:tcPr marL="139910" marR="139910" marT="69955" marB="6995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87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Kamtziridis (2024)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XGBoost forecasting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Feature eng. key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Tree models work</a:t>
                      </a:r>
                    </a:p>
                  </a:txBody>
                  <a:tcPr marL="139910" marR="139910" marT="69955" marB="69955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2060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 &amp;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Data Source: Low Carbon London (LCL) Smart Meter Dataset (Nov 2011 - Feb 2014)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Scale: 167 million half-hourly readings from 5,567 households, aggregated to 3.5M daily records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Stationarity: ADF test confirmed first-order differencing required (d=1)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Temporal Patterns: Morning peaks (6-9am), evening peaks (5-10pm), 35% higher winter consumption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Socioeconomic Distribution: Affluent 40.1%, Adversity 32.3%, Comfortable 26.7%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Feature Engineering: 7-day lags, rolling statistics (7-day mean/std), calendar features (day, month, weekend)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Data Quality: Weather data 84% missing, limiting external feature utility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2060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METHODOLOGY &amp; ARCHITECTURE</a:t>
            </a:r>
          </a:p>
        </p:txBody>
      </p:sp>
      <p:pic>
        <p:nvPicPr>
          <p:cNvPr id="7" name="Picture 6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A93C2139-7CAB-3DD7-1BE5-BAF69D869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87" y="1899767"/>
            <a:ext cx="6513534" cy="43099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9160" y="417576"/>
            <a:ext cx="818223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2060"/>
                </a:solidFill>
              </a:defRPr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HOURLY FORECASTING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479399"/>
              </p:ext>
            </p:extLst>
          </p:nvPr>
        </p:nvGraphicFramePr>
        <p:xfrm>
          <a:off x="428845" y="2086027"/>
          <a:ext cx="8282859" cy="4055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0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0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22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4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48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2100"/>
                        <a:t>Model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2100"/>
                        <a:t>RMSE (kWh)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2100"/>
                        <a:t>MAE (kWh)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2100"/>
                        <a:t>MAPE (%)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2100"/>
                        <a:t>R²</a:t>
                      </a:r>
                    </a:p>
                  </a:txBody>
                  <a:tcPr marL="144528" marR="144528" marT="72264" marB="722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0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XGBoost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0.325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0.185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35.68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0.600</a:t>
                      </a:r>
                    </a:p>
                  </a:txBody>
                  <a:tcPr marL="144528" marR="144528" marT="72264" marB="722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0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LSTM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0.361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0.227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46.04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0.502</a:t>
                      </a:r>
                    </a:p>
                  </a:txBody>
                  <a:tcPr marL="144528" marR="144528" marT="72264" marB="722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0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XGBoost-LSTM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0.362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0.220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43.44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0.502</a:t>
                      </a:r>
                    </a:p>
                  </a:txBody>
                  <a:tcPr marL="144528" marR="144528" marT="72264" marB="722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0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Prophet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0.492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0.385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118.63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0.079</a:t>
                      </a:r>
                    </a:p>
                  </a:txBody>
                  <a:tcPr marL="144528" marR="144528" marT="72264" marB="722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0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ARIMA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0.514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0.353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86.20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-0.006</a:t>
                      </a:r>
                    </a:p>
                  </a:txBody>
                  <a:tcPr marL="144528" marR="144528" marT="72264" marB="722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0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ARIMA-LSTM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0.563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0.362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/>
                        <a:t>63.04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-0.153</a:t>
                      </a:r>
                    </a:p>
                  </a:txBody>
                  <a:tcPr marL="144528" marR="144528" marT="72264" marB="7226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0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ARIMA-</a:t>
                      </a:r>
                      <a:r>
                        <a:rPr lang="en-US" sz="1700" dirty="0" err="1"/>
                        <a:t>XGBoost</a:t>
                      </a:r>
                      <a:r>
                        <a:rPr lang="en-US" sz="1700" dirty="0"/>
                        <a:t> Hybrid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0.5501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0.348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60.83</a:t>
                      </a:r>
                    </a:p>
                  </a:txBody>
                  <a:tcPr marL="144528" marR="144528" marT="72264" marB="72264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700" dirty="0"/>
                        <a:t>-0.151</a:t>
                      </a:r>
                    </a:p>
                  </a:txBody>
                  <a:tcPr marL="144528" marR="144528" marT="72264" marB="72264" anchor="ctr"/>
                </a:tc>
                <a:extLst>
                  <a:ext uri="{0D108BD9-81ED-4DB2-BD59-A6C34878D82A}">
                    <a16:rowId xmlns:a16="http://schemas.microsoft.com/office/drawing/2014/main" val="31585529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9160" y="417576"/>
            <a:ext cx="818223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2060"/>
                </a:solidFill>
              </a:defRPr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DAILY FORECASTING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103520"/>
              </p:ext>
            </p:extLst>
          </p:nvPr>
        </p:nvGraphicFramePr>
        <p:xfrm>
          <a:off x="979174" y="2633472"/>
          <a:ext cx="7183366" cy="274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7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63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/>
                        <a:t>Model</a:t>
                      </a:r>
                    </a:p>
                  </a:txBody>
                  <a:tcPr marL="87094" marR="87094" marT="43547" marB="43547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/>
                        <a:t>RMSE (kWh)</a:t>
                      </a:r>
                    </a:p>
                  </a:txBody>
                  <a:tcPr marL="87094" marR="87094" marT="43547" marB="43547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/>
                        <a:t>MAE (kWh)</a:t>
                      </a:r>
                    </a:p>
                  </a:txBody>
                  <a:tcPr marL="87094" marR="87094" marT="43547" marB="43547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/>
                        <a:t>MAPE (%)</a:t>
                      </a:r>
                    </a:p>
                  </a:txBody>
                  <a:tcPr marL="87094" marR="87094" marT="43547" marB="43547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/>
                        <a:t>R²</a:t>
                      </a:r>
                    </a:p>
                  </a:txBody>
                  <a:tcPr marL="87094" marR="87094" marT="43547" marB="43547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60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 err="1"/>
                        <a:t>XGBoost</a:t>
                      </a:r>
                      <a:endParaRPr lang="en-US" sz="1000" dirty="0"/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3.977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2.970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31.33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0.016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60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ARIMA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4.140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2.859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29.68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-0.071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1812160606"/>
                  </a:ext>
                </a:extLst>
              </a:tr>
              <a:tr h="28160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SARIMA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4.085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2.828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29.97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-0.043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60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LSTM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4.315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3.202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40.69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0.027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60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Prophet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5.973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4.385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49.91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-1.314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992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Hybrid </a:t>
                      </a:r>
                      <a:r>
                        <a:rPr lang="en-US" sz="1000" dirty="0" err="1"/>
                        <a:t>XGBoost</a:t>
                      </a:r>
                      <a:r>
                        <a:rPr lang="en-US" sz="1000" dirty="0"/>
                        <a:t>-LSTM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4.72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3.38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33.32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-0.16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27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Hybrid ARIMA-</a:t>
                      </a:r>
                      <a:r>
                        <a:rPr lang="en-US" sz="1000" dirty="0" err="1"/>
                        <a:t>XGBoost</a:t>
                      </a:r>
                      <a:endParaRPr lang="en-US" sz="1000" dirty="0"/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4.89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3.59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34.92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-0.45</a:t>
                      </a:r>
                    </a:p>
                  </a:txBody>
                  <a:tcPr marL="87094" marR="87094" marT="43547" marB="43547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60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Hybrid ARIMA-LSTM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3.11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4.21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36.61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0.073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4942C-0366-3497-683A-6D5C519AA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1CC376-2525-58D6-2866-D3235CF0EC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057869-B8D5-5E54-EEDA-805B7CE2ADDF}"/>
              </a:ext>
            </a:extLst>
          </p:cNvPr>
          <p:cNvSpPr txBox="1"/>
          <p:nvPr/>
        </p:nvSpPr>
        <p:spPr>
          <a:xfrm>
            <a:off x="479160" y="417576"/>
            <a:ext cx="818223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2060"/>
                </a:solidFill>
              </a:defRPr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RESULTS: WEEKLY FORECASTING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6A64F89-24EB-2535-5002-EA89BDFC9A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EB606A-2E2D-D2FE-6E18-4B6C10DE0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134500"/>
              </p:ext>
            </p:extLst>
          </p:nvPr>
        </p:nvGraphicFramePr>
        <p:xfrm>
          <a:off x="979174" y="2633472"/>
          <a:ext cx="7183366" cy="2197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7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63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 dirty="0"/>
                        <a:t>Model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/>
                        <a:t>RMSE (kWh)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/>
                        <a:t>MAE (kWh)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/>
                        <a:t>MAPE (%)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/>
                        <a:t>R²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60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 err="1"/>
                        <a:t>XGBoost</a:t>
                      </a:r>
                      <a:endParaRPr lang="en-US" sz="1000" dirty="0"/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21.97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17.06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22.20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-0.134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60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ARIMA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21.55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17.35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34.92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-0.076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60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LSTM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35.67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32.49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31.49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-1.948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5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Prophet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41.75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/>
                        <a:t>32.49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36.27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-3.372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55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/>
                      </a:pP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</a:rPr>
                        <a:t>XGBoost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</a:rPr>
                        <a:t>-LSTM Hybrid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21.639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17.445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18.73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-0.085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4105465080"/>
                  </a:ext>
                </a:extLst>
              </a:tr>
              <a:tr h="26055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ARIMA-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Hybrid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4.8935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3.5908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34.92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-0.4451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412904052"/>
                  </a:ext>
                </a:extLst>
              </a:tr>
              <a:tr h="26055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ARIMA-LSTM Hybrid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21.55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17.35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36.91</a:t>
                      </a:r>
                    </a:p>
                  </a:txBody>
                  <a:tcPr marL="87094" marR="87094" marT="43547" marB="43547"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sz="1000" dirty="0"/>
                        <a:t>-0.08</a:t>
                      </a:r>
                    </a:p>
                  </a:txBody>
                  <a:tcPr marL="87094" marR="87094" marT="43547" marB="43547" anchor="ctr"/>
                </a:tc>
                <a:extLst>
                  <a:ext uri="{0D108BD9-81ED-4DB2-BD59-A6C34878D82A}">
                    <a16:rowId xmlns:a16="http://schemas.microsoft.com/office/drawing/2014/main" val="64888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807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2060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FINDINGS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XGBoost consistently superior across all temporal resolutions (hourly, daily, weekly)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Hourly: XGBoost (RMSE 0.325) outperformed LSTM (0.361) - contradicts deep learning superiority hypothesis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Hybrid models failed to improve upon best standalone models (XGBoost-LSTM ≈ LSTM performance)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Weekly forecasting most challenging: limited samples (68 weeks) led to negative R² for all models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Feature engineering (lags, rolling stats) more valuable than architectural complexity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Weather variables minimally useful due to 84% missingness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600"/>
              <a:t>Statistical significance: XGBoost improvements validated via paired t-tests (p&lt;0.05)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2060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CONCLUSIONS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400"/>
              <a:t>Systematic benchmarking: 8 models across 3 temporal horizons with standardized metrics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400"/>
              <a:t>XGBoost most reliable for household energy forecasting - best accuracy-efficiency balance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400"/>
              <a:t>Well-engineered features + tree-based models &gt; complex deep learning architectures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400"/>
              <a:t>Hybrid models require careful design - simple combinations insufficient for improvement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400"/>
              <a:t>Model performance highly sensitive to temporal resolution and data characteristics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400"/>
              <a:t>Practical impact: Findings inform smart grid optimization and demand response programs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pPr>
            <a:r>
              <a:rPr lang="en-US" sz="1400"/>
              <a:t>Future directions: Attention mechanisms, probabilistic forecasting, real-time deployment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8D879-A545-57ED-913C-3CAF6720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EC6F1D-9C24-AC34-5BDD-860ED5025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4432E6-8488-2343-C62C-2C7EB1665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AA9008-79C2-CBA4-32BA-D650198427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C21622-001D-12D6-25EF-E676A9EFBE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012DED-BD29-DE59-E42D-2A6DA10B8E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10F097-5B54-8384-323F-288D51DFABB0}"/>
              </a:ext>
            </a:extLst>
          </p:cNvPr>
          <p:cNvSpPr txBox="1"/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2060"/>
                </a:solidFill>
              </a:defRPr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AE5D5-37AA-B4F2-8B2A-BD111A548332}"/>
              </a:ext>
            </a:extLst>
          </p:cNvPr>
          <p:cNvSpPr txBox="1"/>
          <p:nvPr/>
        </p:nvSpPr>
        <p:spPr>
          <a:xfrm>
            <a:off x="75497" y="1590741"/>
            <a:ext cx="8799485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700" dirty="0"/>
              <a:t>Buratto, W. G., Waldman, R. K., &amp; Nóbrega, C. E. L. (2024). Wavelet CNN-LSTM time series forecasting of electricity power generation considering biomass thermal systems. IET Generation, Transmission &amp; Distribution, 18(20), 3234-3247.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Moosbrugger, L., Hartl, M., Zellinger, W., &amp; Pichler, P. (2025). Load forecasting for households and energy communities: A benchmark of persistence, LSTM, </a:t>
            </a:r>
            <a:r>
              <a:rPr lang="en-US" sz="1700" dirty="0" err="1"/>
              <a:t>xLSTM</a:t>
            </a:r>
            <a:r>
              <a:rPr lang="en-US" sz="1700" dirty="0"/>
              <a:t>, and Transformer models. </a:t>
            </a:r>
            <a:r>
              <a:rPr lang="en-US" sz="1700" dirty="0" err="1"/>
              <a:t>arXiv</a:t>
            </a:r>
            <a:r>
              <a:rPr lang="en-US" sz="1700" dirty="0"/>
              <a:t> preprint arXiv:2501.05000.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Hasanat, S. M., et al. (2024). Enhancing Load Forecasting Accuracy in Smart Grids: A Novel Parallel Multichannel Network Approach Using 1D CNN and Bi-LSTM Models. International Journal of Energy Research.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 err="1"/>
              <a:t>Abumohsen</a:t>
            </a:r>
            <a:r>
              <a:rPr lang="en-US" sz="1700" dirty="0"/>
              <a:t>, M., &amp; </a:t>
            </a:r>
            <a:r>
              <a:rPr lang="en-US" sz="1700" dirty="0" err="1"/>
              <a:t>Owda</a:t>
            </a:r>
            <a:r>
              <a:rPr lang="en-US" sz="1700" dirty="0"/>
              <a:t>, A. Y. (2024). Hybrid machine learning model combining CNN-LSTM-RF for time series forecasting of Solar Power Generation. Results in Engineering, 22, 102216.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Dong, Q., Huang, R., Cui, C., Towey, D., Zhou, L., Tian, J., &amp; Wang, J. (2024). Short-Term Electricity-Load Forecasting by Deep Learning: A Comprehensive Survey. </a:t>
            </a:r>
            <a:r>
              <a:rPr lang="en-US" sz="1700" dirty="0" err="1"/>
              <a:t>arXiv</a:t>
            </a:r>
            <a:r>
              <a:rPr lang="en-US" sz="1700" dirty="0"/>
              <a:t> preprint arXiv:2408.16202.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Chen, T., &amp; </a:t>
            </a:r>
            <a:r>
              <a:rPr lang="en-US" sz="1700" dirty="0" err="1"/>
              <a:t>Guestrin</a:t>
            </a:r>
            <a:r>
              <a:rPr lang="en-US" sz="1700" dirty="0"/>
              <a:t>, C. (2016). </a:t>
            </a:r>
            <a:r>
              <a:rPr lang="en-US" sz="1700" dirty="0" err="1"/>
              <a:t>XGBoost</a:t>
            </a:r>
            <a:r>
              <a:rPr lang="en-US" sz="1700" dirty="0"/>
              <a:t>: A scalable tree boosting system. Proceedings of the 22nd ACM SIGKDD International Conference on Knowledge Discovery and Data Mining (pp. 785-794).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Hochreiter, S., &amp; </a:t>
            </a:r>
            <a:r>
              <a:rPr lang="en-US" sz="1700" dirty="0" err="1"/>
              <a:t>Schmidhuber</a:t>
            </a:r>
            <a:r>
              <a:rPr lang="en-US" sz="1700" dirty="0"/>
              <a:t>, J. (1997). Long short-term memory. Neural Computation, 9(8), 1735-1780.</a:t>
            </a:r>
          </a:p>
        </p:txBody>
      </p:sp>
    </p:spTree>
    <p:extLst>
      <p:ext uri="{BB962C8B-B14F-4D97-AF65-F5344CB8AC3E}">
        <p14:creationId xmlns:p14="http://schemas.microsoft.com/office/powerpoint/2010/main" val="476455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986118" y="735106"/>
            <a:ext cx="7540322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002060"/>
                </a:solidFill>
              </a:defRPr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011" y="4870824"/>
            <a:ext cx="7504463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800"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1010</Words>
  <Application>Microsoft Office PowerPoint</Application>
  <PresentationFormat>On-screen Show (4:3)</PresentationFormat>
  <Paragraphs>203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Lenovoo</cp:lastModifiedBy>
  <cp:revision>4</cp:revision>
  <dcterms:created xsi:type="dcterms:W3CDTF">2013-01-27T09:14:16Z</dcterms:created>
  <dcterms:modified xsi:type="dcterms:W3CDTF">2025-12-06T12:44:07Z</dcterms:modified>
  <cp:category/>
</cp:coreProperties>
</file>